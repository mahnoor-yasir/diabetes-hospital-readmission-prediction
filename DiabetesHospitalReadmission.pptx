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B"/>
                </a:solidFill>
                <a:latin typeface="Arial"/>
              </a:rPr>
              <a:t>Missing Values Before Cleaning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7C-4792-95FA-144A1BFBC6C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7C-4792-95FA-144A1BFBC6C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7C-4792-95FA-144A1BFBC6C2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7C-4792-95FA-144A1BFBC6C2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7C-4792-95FA-144A1BFBC6C2}"/>
              </c:ext>
            </c:extLst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17C-4792-95FA-144A1BFBC6C2}"/>
              </c:ext>
            </c:extLst>
          </c:dPt>
          <c:dPt>
            <c:idx val="6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17C-4792-95FA-144A1BFBC6C2}"/>
              </c:ext>
            </c:extLst>
          </c:dPt>
          <c:dPt>
            <c:idx val="7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17C-4792-95FA-144A1BFBC6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weight</c:v>
                </c:pt>
                <c:pt idx="1">
                  <c:v>max_glu_serum</c:v>
                </c:pt>
                <c:pt idx="2">
                  <c:v>A1Cresult</c:v>
                </c:pt>
                <c:pt idx="3">
                  <c:v>medical_specialty</c:v>
                </c:pt>
                <c:pt idx="4">
                  <c:v>payer_code</c:v>
                </c:pt>
                <c:pt idx="5">
                  <c:v>race</c:v>
                </c:pt>
                <c:pt idx="6">
                  <c:v>diag_3</c:v>
                </c:pt>
                <c:pt idx="7">
                  <c:v>diag_2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96.86</c:v>
                </c:pt>
                <c:pt idx="1">
                  <c:v>94.75</c:v>
                </c:pt>
                <c:pt idx="2">
                  <c:v>83.28</c:v>
                </c:pt>
                <c:pt idx="3">
                  <c:v>49.08</c:v>
                </c:pt>
                <c:pt idx="4">
                  <c:v>39.56</c:v>
                </c:pt>
                <c:pt idx="5">
                  <c:v>2.23</c:v>
                </c:pt>
                <c:pt idx="6">
                  <c:v>1.4</c:v>
                </c:pt>
                <c:pt idx="7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17C-4792-95FA-144A1BFBC6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37-4ADC-92A1-02EDAB620E01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37-4ADC-92A1-02EDAB620E0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37-4ADC-92A1-02EDAB620E0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37-4ADC-92A1-02EDAB620E0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54708</c:v>
                </c:pt>
                <c:pt idx="1">
                  <c:v>47055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37-4ADC-92A1-02EDAB620E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Race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Caucasian</c:v>
                </c:pt>
                <c:pt idx="1">
                  <c:v>AfricanAmerican</c:v>
                </c:pt>
                <c:pt idx="2">
                  <c:v>Unknown</c:v>
                </c:pt>
                <c:pt idx="3">
                  <c:v>Hispanic</c:v>
                </c:pt>
                <c:pt idx="4">
                  <c:v>Other</c:v>
                </c:pt>
                <c:pt idx="5">
                  <c:v>Asian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73000</c:v>
                </c:pt>
                <c:pt idx="1">
                  <c:v>19000</c:v>
                </c:pt>
                <c:pt idx="2">
                  <c:v>2271</c:v>
                </c:pt>
                <c:pt idx="3">
                  <c:v>2037</c:v>
                </c:pt>
                <c:pt idx="4">
                  <c:v>1512</c:v>
                </c:pt>
                <c:pt idx="5">
                  <c:v>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31-4739-AC7B-A633F0A40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Age Group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[0-10)</c:v>
                </c:pt>
                <c:pt idx="1">
                  <c:v>[10-20)</c:v>
                </c:pt>
                <c:pt idx="2">
                  <c:v>[20-30)</c:v>
                </c:pt>
                <c:pt idx="3">
                  <c:v>[30-40)</c:v>
                </c:pt>
                <c:pt idx="4">
                  <c:v>[40-50)</c:v>
                </c:pt>
                <c:pt idx="5">
                  <c:v>[50-60)</c:v>
                </c:pt>
                <c:pt idx="6">
                  <c:v>[60-70)</c:v>
                </c:pt>
                <c:pt idx="7">
                  <c:v>[70-80)</c:v>
                </c:pt>
                <c:pt idx="8">
                  <c:v>[80-90)</c:v>
                </c:pt>
                <c:pt idx="9">
                  <c:v>[90-100)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179</c:v>
                </c:pt>
                <c:pt idx="1">
                  <c:v>870</c:v>
                </c:pt>
                <c:pt idx="2">
                  <c:v>1524</c:v>
                </c:pt>
                <c:pt idx="3">
                  <c:v>3741</c:v>
                </c:pt>
                <c:pt idx="4">
                  <c:v>9906</c:v>
                </c:pt>
                <c:pt idx="5">
                  <c:v>17000</c:v>
                </c:pt>
                <c:pt idx="6">
                  <c:v>22000</c:v>
                </c:pt>
                <c:pt idx="7">
                  <c:v>26000</c:v>
                </c:pt>
                <c:pt idx="8">
                  <c:v>17000</c:v>
                </c:pt>
                <c:pt idx="9">
                  <c:v>3525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A-4624-A2A3-ECF5751F1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Insulin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A2-42C3-80D6-19F7A696694A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A2-42C3-80D6-19F7A696694A}"/>
              </c:ext>
            </c:extLst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A2-42C3-80D6-19F7A696694A}"/>
              </c:ext>
            </c:extLst>
          </c:dPt>
          <c:dPt>
            <c:idx val="3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A2-42C3-80D6-19F7A696694A}"/>
              </c:ext>
            </c:extLst>
          </c:dPt>
          <c:cat>
            <c:strRef>
              <c:f>Sheet1!$A$2:$A$5</c:f>
              <c:strCache>
                <c:ptCount val="4"/>
                <c:pt idx="0">
                  <c:v>No</c:v>
                </c:pt>
                <c:pt idx="1">
                  <c:v>Steady</c:v>
                </c:pt>
                <c:pt idx="2">
                  <c:v>Down</c:v>
                </c:pt>
                <c:pt idx="3">
                  <c:v>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</c:v>
                </c:pt>
                <c:pt idx="1">
                  <c:v>30000</c:v>
                </c:pt>
                <c:pt idx="2">
                  <c:v>12000</c:v>
                </c:pt>
                <c:pt idx="3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A2-42C3-80D6-19F7A69669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A1C Result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A1C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67-44FA-AF99-12E344F3723B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7-44FA-AF99-12E344F3723B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7-44FA-AF99-12E344F3723B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667-44FA-AF99-12E344F372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67-44FA-AF99-12E344F372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67-44FA-AF99-12E344F372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667-44FA-AF99-12E344F372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667-44FA-AF99-12E344F372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Unknown</c:v>
                </c:pt>
                <c:pt idx="1">
                  <c:v>&gt;8</c:v>
                </c:pt>
                <c:pt idx="2">
                  <c:v>Norm</c:v>
                </c:pt>
                <c:pt idx="3">
                  <c:v>&gt;7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84748</c:v>
                </c:pt>
                <c:pt idx="1">
                  <c:v>8901</c:v>
                </c:pt>
                <c:pt idx="2">
                  <c:v>5681</c:v>
                </c:pt>
                <c:pt idx="3">
                  <c:v>2436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67-44FA-AF99-12E344F37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Primary Diagnosis Group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Circulatory</c:v>
                </c:pt>
                <c:pt idx="1">
                  <c:v>Other</c:v>
                </c:pt>
                <c:pt idx="2">
                  <c:v>Respiratory</c:v>
                </c:pt>
                <c:pt idx="3">
                  <c:v>Digestive</c:v>
                </c:pt>
                <c:pt idx="4">
                  <c:v>Injury</c:v>
                </c:pt>
                <c:pt idx="5">
                  <c:v>Genitourinary</c:v>
                </c:pt>
                <c:pt idx="6">
                  <c:v>Musculoskeletal</c:v>
                </c:pt>
                <c:pt idx="7">
                  <c:v>Neoplasms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30436</c:v>
                </c:pt>
                <c:pt idx="1">
                  <c:v>25049</c:v>
                </c:pt>
                <c:pt idx="2">
                  <c:v>14423</c:v>
                </c:pt>
                <c:pt idx="3">
                  <c:v>9475</c:v>
                </c:pt>
                <c:pt idx="4">
                  <c:v>6972</c:v>
                </c:pt>
                <c:pt idx="5">
                  <c:v>5117</c:v>
                </c:pt>
                <c:pt idx="6">
                  <c:v>4957</c:v>
                </c:pt>
                <c:pt idx="7">
                  <c:v>3433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E7-4A9C-945A-EC04B7A779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Pearson Correlation with readmitted_30_days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num_procedures</c:v>
                </c:pt>
                <c:pt idx="1">
                  <c:v>age_midpoint</c:v>
                </c:pt>
                <c:pt idx="2">
                  <c:v>num_outpatient</c:v>
                </c:pt>
                <c:pt idx="3">
                  <c:v>num_lab_procedures</c:v>
                </c:pt>
                <c:pt idx="4">
                  <c:v>med_change_count</c:v>
                </c:pt>
                <c:pt idx="5">
                  <c:v>num_medications</c:v>
                </c:pt>
                <c:pt idx="6">
                  <c:v>time_in_hospital</c:v>
                </c:pt>
                <c:pt idx="7">
                  <c:v>num_diagnoses</c:v>
                </c:pt>
                <c:pt idx="8">
                  <c:v>num_emergency</c:v>
                </c:pt>
                <c:pt idx="9">
                  <c:v>prev_visits</c:v>
                </c:pt>
                <c:pt idx="10">
                  <c:v>num_inpatient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-1.2E-2</c:v>
                </c:pt>
                <c:pt idx="1">
                  <c:v>1.7999999999999999E-2</c:v>
                </c:pt>
                <c:pt idx="2">
                  <c:v>1.9E-2</c:v>
                </c:pt>
                <c:pt idx="3">
                  <c:v>0.02</c:v>
                </c:pt>
                <c:pt idx="4">
                  <c:v>3.5000000000000003E-2</c:v>
                </c:pt>
                <c:pt idx="5">
                  <c:v>3.7999999999999999E-2</c:v>
                </c:pt>
                <c:pt idx="6">
                  <c:v>4.3999999999999997E-2</c:v>
                </c:pt>
                <c:pt idx="7">
                  <c:v>0.05</c:v>
                </c:pt>
                <c:pt idx="8">
                  <c:v>6.0999999999999999E-2</c:v>
                </c:pt>
                <c:pt idx="9">
                  <c:v>0.126</c:v>
                </c:pt>
                <c:pt idx="10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A-4C2C-A1F2-8901E77C38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B"/>
                </a:solidFill>
                <a:latin typeface="Arial"/>
              </a:rPr>
              <a:t>Performance Metrics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Extra
Trees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0.88900000000000001</c:v>
                </c:pt>
                <c:pt idx="1">
                  <c:v>0.84799999999999998</c:v>
                </c:pt>
                <c:pt idx="2">
                  <c:v>0.89100000000000001</c:v>
                </c:pt>
                <c:pt idx="3">
                  <c:v>0.89100000000000001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B-4D59-99D3-A21D31A079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Extra
Trees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0.252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B-4D59-99D3-A21D31A079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Extra
Trees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0.26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2B-4D59-99D3-A21D31A0795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Extra
Trees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0.25600000000000001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2B-4D59-99D3-A21D31A079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45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Hospital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Prediction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28800" y="2176272"/>
            <a:ext cx="5486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30-Day Readmission in Diabetic Patients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UCI Diabetes 130-US Hospitals Dataset (1999–2008)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Mahnoor Yasir  |  F2023266580  |  Section V1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|  Instructor: Sir Abdul Jamil  |  UMT Lahore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2801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2801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Hospitals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2801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40233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28803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 – Diabetes 130-US Hospitals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clinical medical records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ucimlrepo Python package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23160"/>
            <a:ext cx="40233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28803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readmitted_30_days
</a:t>
            </a: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 = Readmitted within 30 days
</a:t>
            </a: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Not readmitted within 30 days
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88.8% vs 11.2%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repo via ucimlrepo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 records, 48 cols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02412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data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9144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02412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024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0241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'?', remove invalid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binary target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8152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081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657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midpoint, prev visits,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change count, diag group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29718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08152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081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Charts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28416" y="3657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clinical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54496" y="3081528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84848" y="30815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72784" y="3657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Reg, Decision Tree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Extra Trees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'?' symbols with NaN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 (0 found)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gender records (3 removed)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632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binary target: readmitted_30_days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11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48 → 53 after engineering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605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101,766 → 101,763 after cleaning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1444752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481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age_midpoint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1719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midpoint of age bracket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1031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1396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total_previous_visits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0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+ Emergency + Inpatient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761488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medication_change_count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3035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meds changed Up/Down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419856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primary_diagnosis_group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0" y="3694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ICD-9 code → 10 clinical categories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4078224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readmitted_30_days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0" y="43525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(1 = readmitted &lt;30 days)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68680"/>
            <a:ext cx="2926080" cy="40233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80760" y="138988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353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(96.86%)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09360" y="15361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unusable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195681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202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max_glu_serum (94.75%)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unusable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52374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487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A1Cresult (83.28%)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26700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unusable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309067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medical_specialty (49.08%)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3236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filled as 'Unknown'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65760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payer_code (39.56%)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38039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low model impact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080760" y="422452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187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(2.23%)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4370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mode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– Patient Demographics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868680"/>
          <a:ext cx="2743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108960" y="868680"/>
          <a:ext cx="57607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182880" y="3246120"/>
          <a:ext cx="8778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– Clinical Features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868680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868680"/>
          <a:ext cx="42976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182880" y="3017520"/>
          <a:ext cx="8778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Insights (10 Data Science Q&amp;A)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3327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11.16%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3327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49240" y="1005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[20-30)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readmission age group (14.24%)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719072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379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 vs 1.10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066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prev. visits: readmitted vs not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719072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83794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810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External/Suppl.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066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with highest readmission (16.17%)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523744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64261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2615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~Male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28712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nearly equal by gender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523744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64261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2615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 vs 4.35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8712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hospital stay: readmitted vs not (days)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328416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4472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Caucasian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3675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absolute readmission rate by race (11.29%)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44728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34198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&gt; Up &gt; Steady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3675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change status linked to readmission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13308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25196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8680" y="4224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 vs 15.9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" y="44805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medications: readmitted vs not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4133088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42519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49240" y="4224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(0.165)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49240" y="44805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correlate with readmission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Feature Correlations with Readmission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3035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68680"/>
            <a:ext cx="3154680" cy="40690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960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97880" y="1389888"/>
            <a:ext cx="2880360" cy="576072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43560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number_inpatient is the strongest predictor (r = 0.165)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7880" y="2066544"/>
            <a:ext cx="2880360" cy="576072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11226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total_previous_visits second strongest (r = 0.126)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97880" y="2743200"/>
            <a:ext cx="2880360" cy="576072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78892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number_emergency also meaningful (r = 0.061)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97880" y="3419856"/>
            <a:ext cx="2880360" cy="576072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34655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Most individual features have weak correlation — class imbalance challenge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4096512"/>
            <a:ext cx="2880360" cy="576072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414223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Model must rely on combined feature power, not single predictors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Building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Pipeline: Imputation (median / most frequent)  →  StandardScaler  →  OneHotEncoder  →  sklearn Pipeline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880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C=1.0, max_iter=1000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96596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965960"/>
            <a:ext cx="20116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6352" y="2542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42032" y="2880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splits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96596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96596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92624" y="2542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18304" y="2880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strategy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196596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965960"/>
            <a:ext cx="20116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965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68896" y="254203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25420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94576" y="28803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random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ensemble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Results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6868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960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138988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43560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High accuracy is misleading due to 88.8% class-0 majority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2139696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218541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Decision Tree is the only model detecting minority class (F1: 0.256)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2889504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9352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LR, RF, Extra Trees predict all-0 — zero recall on readmitted patients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0760" y="363931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36850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Recommended fix: SMOTE, class_weight='balanced', or threshold tuning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Models trained on 80/20 train-test split with sklearn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5486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A366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996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11.16% of patients are readmitted within 30 days — strong class imbalance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9397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inpatient visits are the strongest predictor of readmission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8833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20-30 had the highest readmission rate (14.24%)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8269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reduced insulin dosages showed higher readmission (13.9%)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7705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was the only model detecting readmitted patients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1A366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153619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4996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or class_weight='balanced' to address imbalance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13055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09397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decision threshold (e.g. 0.3 instead of 0.5)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72491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68833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XGBoost / LightGBM for better handling of tabular imbalance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31927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28269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prior admission features in clinical risk scores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91363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87705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patients aged 20-30 for targeted intervention programs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49135" y="1978429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47A72B38-8116-4A61-AAB1-9E1B77030726}"/>
              </a:ext>
            </a:extLst>
          </p:cNvPr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F86EE46C-0DF4-4F81-B306-3400E2B4F8F6}"/>
              </a:ext>
            </a:extLst>
          </p:cNvPr>
          <p:cNvSpPr/>
          <p:nvPr/>
        </p:nvSpPr>
        <p:spPr>
          <a:xfrm>
            <a:off x="6666807" y="-1803862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869</Words>
  <Application>Microsoft Office PowerPoint</Application>
  <PresentationFormat>On-screen Show (16:9)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Hospital Readmission Prediction</dc:title>
  <dc:subject>PptxGenJS Presentation</dc:subject>
  <dc:creator>Mahnoor Yasir</dc:creator>
  <cp:lastModifiedBy>MAHNOOR YASIR</cp:lastModifiedBy>
  <cp:revision>5</cp:revision>
  <dcterms:created xsi:type="dcterms:W3CDTF">2026-06-17T03:53:36Z</dcterms:created>
  <dcterms:modified xsi:type="dcterms:W3CDTF">2026-06-17T04:52:39Z</dcterms:modified>
</cp:coreProperties>
</file>